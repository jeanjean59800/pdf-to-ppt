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Mna Test Pdf</a:t>
            </a:r>
          </a:p>
        </p:txBody>
      </p:sp>
      <p:sp>
        <p:nvSpPr>
          <p:cNvPr id="3" name="Subtitle 2"/>
          <p:cNvSpPr>
            <a:spLocks noGrp="1"/>
          </p:cNvSpPr>
          <p:nvPr>
            <p:ph type="subTitle" idx="1"/>
          </p:nvPr>
        </p:nvSpPr>
        <p:spPr/>
        <p:txBody>
          <a:bodyPr/>
          <a:lstStyle/>
          <a:p>
            <a:r>
              <a:t>Generated editable deck skeleton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 Thesis</a:t>
            </a:r>
          </a:p>
        </p:txBody>
      </p:sp>
      <p:sp>
        <p:nvSpPr>
          <p:cNvPr id="3" name="Content Placeholder 2"/>
          <p:cNvSpPr>
            <a:spLocks noGrp="1"/>
          </p:cNvSpPr>
          <p:nvPr>
            <p:ph idx="1"/>
          </p:nvPr>
        </p:nvSpPr>
        <p:spPr/>
        <p:txBody>
          <a:bodyPr/>
          <a:lstStyle/>
          <a:p/>
          <a:p>
            <a:pPr>
              <a:defRPr sz="1800"/>
            </a:pPr>
            <a:r>
              <a:t>This presentation distills the core concepts of the Edinburgh Business School Mergers and Acquisitions course, guiding learners through the course structure, modelling principles, process development, drivers of M&amp;A activity, and practical resources for application.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Available Data</a:t>
            </a:r>
          </a:p>
        </p:txBody>
      </p:sp>
      <p:sp>
        <p:nvSpPr>
          <p:cNvPr id="3" name="Content Placeholder 2"/>
          <p:cNvSpPr>
            <a:spLocks noGrp="1"/>
          </p:cNvSpPr>
          <p:nvPr>
            <p:ph idx="1"/>
          </p:nvPr>
        </p:nvSpPr>
        <p:spPr/>
        <p:txBody>
          <a:bodyPr/>
          <a:lstStyle/>
          <a:p/>
          <a:p>
            <a:pPr>
              <a:defRPr sz="1800"/>
            </a:pPr>
            <a:r>
              <a:t>PDF: mna_test_pdf.pdf</a:t>
            </a:r>
          </a:p>
          <a:p>
            <a:pPr>
              <a:defRPr sz="1800"/>
            </a:pPr>
            <a:r>
              <a:t>Raw text: C:\Users\jeanl\pdf_to_ppt\clean_ppt_pipeline_demo\output\final_runs\local_text_fal_images_rag_check__mna_test_pdf\artifacts\text\mna_test_pdf_extracted_text\mna_test_pdf_text.txt</a:t>
            </a:r>
          </a:p>
          <a:p>
            <a:pPr>
              <a:defRPr sz="1800"/>
            </a:pPr>
            <a:r>
              <a:t>Rendered page images: 50</a:t>
            </a:r>
          </a:p>
          <a:p>
            <a:pPr>
              <a:defRPr sz="1800"/>
            </a:pPr>
            <a:r>
              <a:t>Candidate cropped visuals: 4</a:t>
            </a:r>
          </a:p>
          <a:p>
            <a:pPr>
              <a:defRPr sz="1800"/>
            </a:pPr>
            <a:r>
              <a:t>Generated plots: 0</a:t>
            </a:r>
          </a:p>
          <a:p>
            <a:pPr>
              <a:defRPr sz="1800"/>
            </a:pPr>
            <a:r>
              <a:t>Manual refinement: validate slide logic, figure relevance, and wording.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Course Overview</a:t>
            </a:r>
          </a:p>
        </p:txBody>
      </p:sp>
      <p:sp>
        <p:nvSpPr>
          <p:cNvPr id="3" name="Content Placeholder 2"/>
          <p:cNvSpPr>
            <a:spLocks noGrp="1"/>
          </p:cNvSpPr>
          <p:nvPr>
            <p:ph idx="1"/>
          </p:nvPr>
        </p:nvSpPr>
        <p:spPr/>
        <p:txBody>
          <a:bodyPr/>
          <a:lstStyle/>
          <a:p/>
          <a:p>
            <a:pPr>
              <a:defRPr sz="1800" b="1"/>
            </a:pPr>
            <a:r>
              <a:t>Course</a:t>
            </a:r>
          </a:p>
          <a:p>
            <a:pPr>
              <a:defRPr sz="1600"/>
            </a:pPr>
            <a:r>
              <a:t>Mergers and Acquisitions – an integrated text covering strategy, finance, and implementation.</a:t>
            </a:r>
          </a:p>
          <a:p>
            <a:pPr>
              <a:defRPr sz="1800" b="1"/>
            </a:pPr>
            <a:r>
              <a:t>Authors</a:t>
            </a:r>
          </a:p>
          <a:p>
            <a:pPr>
              <a:defRPr sz="1600"/>
            </a:pPr>
            <a:r>
              <a:t>Prof. Alexander Roberts</a:t>
            </a:r>
          </a:p>
          <a:p>
            <a:pPr>
              <a:defRPr sz="1600"/>
            </a:pPr>
            <a:r>
              <a:t>Dr. William Wallace</a:t>
            </a:r>
          </a:p>
          <a:p>
            <a:pPr>
              <a:defRPr sz="1600"/>
            </a:pPr>
            <a:r>
              <a:t>Dr. Peter Moles</a:t>
            </a:r>
          </a:p>
          <a:p>
            <a:pPr>
              <a:defRPr sz="1800" b="1"/>
            </a:pPr>
            <a:r>
              <a:t>Philosophy</a:t>
            </a:r>
          </a:p>
          <a:p>
            <a:pPr>
              <a:defRPr sz="1600"/>
            </a:pPr>
            <a:r>
              <a:t>Multidisciplinary approach: from strategic rationale to execution.</a:t>
            </a:r>
          </a:p>
          <a:p>
            <a:pPr>
              <a:defRPr sz="1100"/>
            </a:pPr>
            <a:r>
              <a:t>Visual direction: text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2. Online Resources &amp; Updates</a:t>
            </a:r>
          </a:p>
        </p:txBody>
      </p:sp>
      <p:sp>
        <p:nvSpPr>
          <p:cNvPr id="3" name="TextBox 2"/>
          <p:cNvSpPr txBox="1"/>
          <p:nvPr/>
        </p:nvSpPr>
        <p:spPr>
          <a:xfrm>
            <a:off x="548640" y="1371600"/>
            <a:ext cx="4754880" cy="4754880"/>
          </a:xfrm>
          <a:prstGeom prst="rect">
            <a:avLst/>
          </a:prstGeom>
          <a:noFill/>
        </p:spPr>
        <p:txBody>
          <a:bodyPr wrap="none">
            <a:spAutoFit/>
          </a:bodyPr>
          <a:lstStyle/>
          <a:p/>
          <a:p>
            <a:pPr>
              <a:defRPr sz="1800" b="1"/>
            </a:pPr>
            <a:r>
              <a:t>Course Website</a:t>
            </a:r>
          </a:p>
          <a:p>
            <a:pPr>
              <a:defRPr sz="1600"/>
            </a:pPr>
            <a:r>
              <a:t>http://coursewebsites.ebsglobal.net/ – latest version, past exams, Profiler software.</a:t>
            </a:r>
          </a:p>
          <a:p>
            <a:pPr>
              <a:defRPr sz="1800" b="1"/>
            </a:pPr>
            <a:r>
              <a:t>Updates</a:t>
            </a:r>
          </a:p>
          <a:p>
            <a:pPr>
              <a:defRPr sz="1600"/>
            </a:pPr>
            <a:r>
              <a:t>Version number on front page; changes reflected on website.</a:t>
            </a:r>
          </a:p>
          <a:p>
            <a:pPr>
              <a:defRPr sz="1800" b="1"/>
            </a:pPr>
            <a:r>
              <a:t>Contact</a:t>
            </a:r>
          </a:p>
          <a:p>
            <a:pPr>
              <a:defRPr sz="1600"/>
            </a:pPr>
            <a:r>
              <a:t>comments@ebs.hw.ac.uk for suggestions.</a:t>
            </a:r>
          </a:p>
          <a:p>
            <a:pPr>
              <a:defRPr sz="1800" b="1"/>
            </a:pPr>
            <a:r>
              <a:t>Coverage additions</a:t>
            </a:r>
          </a:p>
          <a:p>
            <a:pPr>
              <a:defRPr sz="1600"/>
            </a:pPr>
            <a:r>
              <a:t>course context: The financial issues are addressed by a financial special- ist and adopt a slightly different format and structure to the rest of the course</a:t>
            </a:r>
          </a:p>
          <a:p>
            <a:pPr>
              <a:defRPr sz="1100"/>
            </a:pPr>
            <a:r>
              <a:t>Visual direction: generated illustration</a:t>
            </a:r>
          </a:p>
        </p:txBody>
      </p:sp>
      <p:pic>
        <p:nvPicPr>
          <p:cNvPr id="4" name="Picture 3" descr="online-resources-updates-94a6bbb49294.png"/>
          <p:cNvPicPr>
            <a:picLocks noChangeAspect="1"/>
          </p:cNvPicPr>
          <p:nvPr/>
        </p:nvPicPr>
        <p:blipFill>
          <a:blip r:embed="rId2"/>
          <a:stretch>
            <a:fillRect/>
          </a:stretch>
        </p:blipFill>
        <p:spPr>
          <a:xfrm>
            <a:off x="5486400" y="1371600"/>
            <a:ext cx="292608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What is a Model in M&amp;A?</a:t>
            </a:r>
          </a:p>
        </p:txBody>
      </p:sp>
      <p:sp>
        <p:nvSpPr>
          <p:cNvPr id="3" name="Content Placeholder 2"/>
          <p:cNvSpPr>
            <a:spLocks noGrp="1"/>
          </p:cNvSpPr>
          <p:nvPr>
            <p:ph idx="1"/>
          </p:nvPr>
        </p:nvSpPr>
        <p:spPr/>
        <p:txBody>
          <a:bodyPr/>
          <a:lstStyle/>
          <a:p/>
          <a:p>
            <a:pPr>
              <a:defRPr sz="1800" b="1"/>
            </a:pPr>
            <a:r>
              <a:t>Definition</a:t>
            </a:r>
          </a:p>
          <a:p>
            <a:pPr>
              <a:defRPr sz="1600"/>
            </a:pPr>
            <a:r>
              <a:t>Model: a description, comparison or analogy used to describe that which cannot be seen.</a:t>
            </a:r>
          </a:p>
          <a:p>
            <a:pPr>
              <a:defRPr sz="1600"/>
            </a:pPr>
            <a:r>
              <a:t>Process: a series of actions or operations in order to achieve a defined objective.</a:t>
            </a:r>
          </a:p>
          <a:p>
            <a:pPr>
              <a:defRPr sz="1800" b="1"/>
            </a:pPr>
            <a:r>
              <a:t>Process Model</a:t>
            </a:r>
          </a:p>
          <a:p>
            <a:pPr>
              <a:defRPr sz="1600"/>
            </a:pPr>
            <a:r>
              <a:t>A process model of M&amp;A is a description or analogy of the actions and operations involved in achieving a mergers‑and‑acquisitions system.</a:t>
            </a:r>
          </a:p>
          <a:p>
            <a:pPr>
              <a:defRPr sz="1600"/>
            </a:pPr>
            <a:r>
              <a:t>It serves as a map or guide for developing the outcome of the model.</a:t>
            </a:r>
          </a:p>
          <a:p>
            <a:pPr>
              <a:defRPr sz="1600"/>
            </a:pPr>
            <a:r>
              <a:t>The model is generic, making it relevant across a range of applications.</a:t>
            </a:r>
          </a:p>
          <a:p>
            <a:pPr>
              <a:defRPr sz="1100"/>
            </a:pPr>
            <a:r>
              <a:t>Visual direction: text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4. Why Process Models Matter in M&amp;A</a:t>
            </a:r>
          </a:p>
        </p:txBody>
      </p:sp>
      <p:sp>
        <p:nvSpPr>
          <p:cNvPr id="3" name="TextBox 2"/>
          <p:cNvSpPr txBox="1"/>
          <p:nvPr/>
        </p:nvSpPr>
        <p:spPr>
          <a:xfrm>
            <a:off x="548640" y="1371600"/>
            <a:ext cx="4754880" cy="4754880"/>
          </a:xfrm>
          <a:prstGeom prst="rect">
            <a:avLst/>
          </a:prstGeom>
          <a:noFill/>
        </p:spPr>
        <p:txBody>
          <a:bodyPr wrap="none">
            <a:spAutoFit/>
          </a:bodyPr>
          <a:lstStyle/>
          <a:p/>
          <a:p>
            <a:pPr>
              <a:defRPr sz="1800" b="1"/>
            </a:pPr>
            <a:r>
              <a:t>Purpose</a:t>
            </a:r>
          </a:p>
          <a:p>
            <a:pPr>
              <a:defRPr sz="1600"/>
            </a:pPr>
            <a:r>
              <a:t>Mergers and acquisitions impose a considerable degree of change on an organisation.</a:t>
            </a:r>
          </a:p>
          <a:p>
            <a:pPr>
              <a:defRPr sz="1600"/>
            </a:pPr>
            <a:r>
              <a:t>Properly designed procedures and processes are imperative.</a:t>
            </a:r>
          </a:p>
          <a:p>
            <a:pPr>
              <a:defRPr sz="1800" b="1"/>
            </a:pPr>
            <a:r>
              <a:t>Implementation Focus</a:t>
            </a:r>
          </a:p>
          <a:p>
            <a:pPr>
              <a:defRPr sz="1600"/>
            </a:pPr>
            <a:r>
              <a:t>Modules 7 to 10 consider the implementation process, using project management as a tool for managing change.</a:t>
            </a:r>
          </a:p>
          <a:p>
            <a:pPr>
              <a:defRPr sz="1600"/>
            </a:pPr>
            <a:r>
              <a:t>These modules cover the preparation of an implementation plan and its execution through completion.</a:t>
            </a:r>
          </a:p>
          <a:p>
            <a:pPr>
              <a:defRPr sz="1800" b="1"/>
            </a:pPr>
            <a:r>
              <a:t>Benefits</a:t>
            </a:r>
          </a:p>
          <a:p>
            <a:pPr>
              <a:defRPr sz="1600"/>
            </a:pPr>
            <a:r>
              <a:t>Process models provide a general representation of what must be done to achieve a specified outcome.</a:t>
            </a:r>
          </a:p>
          <a:p>
            <a:pPr>
              <a:defRPr sz="1600"/>
            </a:pPr>
            <a:r>
              <a:t>They are generic yet can be tailored for specific applications, guiding teams through complex M&amp;A activities.</a:t>
            </a:r>
          </a:p>
          <a:p>
            <a:pPr>
              <a:defRPr sz="1800" b="1"/>
            </a:pPr>
            <a:r>
              <a:t>Coverage additions</a:t>
            </a:r>
          </a:p>
          <a:p>
            <a:pPr>
              <a:defRPr sz="1600"/>
            </a:pPr>
            <a:r>
              <a:t>model definition: Philosophy This text seeks to establish a process model for mergers and acquisitions</a:t>
            </a:r>
          </a:p>
          <a:p>
            <a:pPr>
              <a:defRPr sz="1600"/>
            </a:pPr>
            <a:r>
              <a:t>process model purpose:  Implementation and integration Modules 7 to 10 consider the implementation process particularly in the context of using project management as a tool for managing change (see the strategic focus wheel discussion in the preface)</a:t>
            </a:r>
          </a:p>
          <a:p>
            <a:pPr>
              <a:defRPr sz="1100"/>
            </a:pPr>
            <a:r>
              <a:t>Visual direction: extracted figure</a:t>
            </a:r>
          </a:p>
        </p:txBody>
      </p:sp>
      <p:pic>
        <p:nvPicPr>
          <p:cNvPr id="4" name="Picture 3" descr="page_13_crop_68.png"/>
          <p:cNvPicPr>
            <a:picLocks noChangeAspect="1"/>
          </p:cNvPicPr>
          <p:nvPr/>
        </p:nvPicPr>
        <p:blipFill>
          <a:blip r:embed="rId2"/>
          <a:stretch>
            <a:fillRect/>
          </a:stretch>
        </p:blipFill>
        <p:spPr>
          <a:xfrm>
            <a:off x="5486400" y="1371600"/>
            <a:ext cx="2926080" cy="4389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5. Generic M&amp;A Process Model: The Blueprint</a:t>
            </a:r>
          </a:p>
        </p:txBody>
      </p:sp>
      <p:sp>
        <p:nvSpPr>
          <p:cNvPr id="3" name="TextBox 2"/>
          <p:cNvSpPr txBox="1"/>
          <p:nvPr/>
        </p:nvSpPr>
        <p:spPr>
          <a:xfrm>
            <a:off x="548640" y="1371600"/>
            <a:ext cx="4754880" cy="4754880"/>
          </a:xfrm>
          <a:prstGeom prst="rect">
            <a:avLst/>
          </a:prstGeom>
          <a:noFill/>
        </p:spPr>
        <p:txBody>
          <a:bodyPr wrap="none">
            <a:spAutoFit/>
          </a:bodyPr>
          <a:lstStyle/>
          <a:p/>
          <a:p>
            <a:pPr>
              <a:defRPr sz="1800" b="1"/>
            </a:pPr>
            <a:r>
              <a:t>What a Generic Model Looks Like</a:t>
            </a:r>
          </a:p>
          <a:p>
            <a:pPr>
              <a:defRPr sz="1600"/>
            </a:pPr>
            <a:r>
              <a:t>Stages &amp; Phases: A series of actions or operations to achieve a defined objective.</a:t>
            </a:r>
          </a:p>
          <a:p>
            <a:pPr>
              <a:defRPr sz="1600"/>
            </a:pPr>
            <a:r>
              <a:t>Analogy: The model is a description of the action and operations involved in achieving a mergers and acquisitions system.</a:t>
            </a:r>
          </a:p>
          <a:p>
            <a:pPr>
              <a:defRPr sz="1600"/>
            </a:pPr>
            <a:r>
              <a:t>Map/Guide: A user should be able to look at the process model and use it as a kind of map or guide to assist in developing the outcome.</a:t>
            </a:r>
          </a:p>
          <a:p>
            <a:pPr>
              <a:defRPr sz="1600"/>
            </a:pPr>
            <a:r>
              <a:t>General Representation: Useful because it shows what has to be done to achieve a specified outcome and is relevant across many applications.</a:t>
            </a:r>
          </a:p>
          <a:p>
            <a:pPr>
              <a:defRPr sz="1100"/>
            </a:pPr>
            <a:r>
              <a:t>Visual direction: extracted figure</a:t>
            </a:r>
          </a:p>
        </p:txBody>
      </p:sp>
      <p:pic>
        <p:nvPicPr>
          <p:cNvPr id="4" name="Picture 3" descr="page_28_crop_19.png"/>
          <p:cNvPicPr>
            <a:picLocks noChangeAspect="1"/>
          </p:cNvPicPr>
          <p:nvPr/>
        </p:nvPicPr>
        <p:blipFill>
          <a:blip r:embed="rId2"/>
          <a:stretch>
            <a:fillRect/>
          </a:stretch>
        </p:blipFill>
        <p:spPr>
          <a:xfrm>
            <a:off x="5486400" y="1371600"/>
            <a:ext cx="2926080"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6. Tuning the Model with Company Data</a:t>
            </a:r>
          </a:p>
        </p:txBody>
      </p:sp>
      <p:pic>
        <p:nvPicPr>
          <p:cNvPr id="3" name="Picture 2" descr="page_31_crop_104.png"/>
          <p:cNvPicPr>
            <a:picLocks noChangeAspect="1"/>
          </p:cNvPicPr>
          <p:nvPr/>
        </p:nvPicPr>
        <p:blipFill>
          <a:blip r:embed="rId2"/>
          <a:stretch>
            <a:fillRect/>
          </a:stretch>
        </p:blipFill>
        <p:spPr>
          <a:xfrm>
            <a:off x="640080" y="1371600"/>
            <a:ext cx="5212080" cy="4297680"/>
          </a:xfrm>
          <a:prstGeom prst="rect">
            <a:avLst/>
          </a:prstGeom>
        </p:spPr>
      </p:pic>
      <p:sp>
        <p:nvSpPr>
          <p:cNvPr id="4" name="TextBox 3"/>
          <p:cNvSpPr txBox="1"/>
          <p:nvPr/>
        </p:nvSpPr>
        <p:spPr>
          <a:xfrm>
            <a:off x="5989320" y="1463040"/>
            <a:ext cx="2468880" cy="4206240"/>
          </a:xfrm>
          <a:prstGeom prst="rect">
            <a:avLst/>
          </a:prstGeom>
          <a:noFill/>
        </p:spPr>
        <p:txBody>
          <a:bodyPr wrap="none">
            <a:spAutoFit/>
          </a:bodyPr>
          <a:lstStyle/>
          <a:p/>
          <a:p>
            <a:pPr>
              <a:defRPr sz="1800" b="1"/>
            </a:pPr>
            <a:r>
              <a:t>From Blueprint to Actionable Plan</a:t>
            </a:r>
          </a:p>
          <a:p>
            <a:pPr>
              <a:defRPr sz="1600"/>
            </a:pPr>
            <a:r>
              <a:t>Data‑Driven Adjustment: For specific application, the process model has to be tuned with detailed company data and information.</a:t>
            </a:r>
          </a:p>
          <a:p>
            <a:pPr>
              <a:defRPr sz="1600"/>
            </a:pPr>
            <a:r>
              <a:t>Implementation Modules: Modules 7‑10 focus on preparing an implementation plan and managing it through completion.</a:t>
            </a:r>
          </a:p>
          <a:p>
            <a:pPr>
              <a:defRPr sz="1600"/>
            </a:pPr>
            <a:r>
              <a:t>Project Management: Use project management as a tool for managing change, ensuring the tuned model translates into real actions.</a:t>
            </a:r>
          </a:p>
          <a:p>
            <a:pPr>
              <a:defRPr sz="1600"/>
            </a:pPr>
            <a:r>
              <a:t>Outcome: A customized, actionable plan that reflects the company’s unique context while retaining the proven generic structure.</a:t>
            </a:r>
          </a:p>
          <a:p>
            <a:pPr>
              <a:defRPr sz="1800" b="1"/>
            </a:pPr>
            <a:r>
              <a:t>Coverage additions</a:t>
            </a:r>
          </a:p>
          <a:p>
            <a:pPr>
              <a:defRPr sz="1600"/>
            </a:pPr>
            <a:r>
              <a:t>generic stages: The idea of a process model is to represent the stages and phases involved in a task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7. Drivers of M&amp;A Activity</a:t>
            </a:r>
          </a:p>
        </p:txBody>
      </p:sp>
      <p:sp>
        <p:nvSpPr>
          <p:cNvPr id="3" name="TextBox 2"/>
          <p:cNvSpPr txBox="1"/>
          <p:nvPr/>
        </p:nvSpPr>
        <p:spPr>
          <a:xfrm>
            <a:off x="548640" y="1371600"/>
            <a:ext cx="4754880" cy="4754880"/>
          </a:xfrm>
          <a:prstGeom prst="rect">
            <a:avLst/>
          </a:prstGeom>
          <a:noFill/>
        </p:spPr>
        <p:txBody>
          <a:bodyPr wrap="none">
            <a:spAutoFit/>
          </a:bodyPr>
          <a:lstStyle/>
          <a:p/>
          <a:p>
            <a:pPr>
              <a:defRPr sz="1500"/>
            </a:pPr>
            <a:r>
              <a:t>M&amp;A decisions are shaped by a mix of strategic, market, and operational forces.</a:t>
            </a:r>
          </a:p>
          <a:p>
            <a:pPr>
              <a:defRPr sz="1600"/>
            </a:pPr>
            <a:r>
              <a:t>National consolidation: compatible firms in the same region.</a:t>
            </a:r>
          </a:p>
          <a:p>
            <a:pPr>
              <a:defRPr sz="1600"/>
            </a:pPr>
            <a:r>
              <a:t>Diversification risk: balancing a portfolio, yet often does not reduce risk.</a:t>
            </a:r>
          </a:p>
          <a:p>
            <a:pPr>
              <a:defRPr sz="1600"/>
            </a:pPr>
            <a:r>
              <a:t>Industry pressures: sector‑specific consolidation (e.g., oil, banking).</a:t>
            </a:r>
          </a:p>
          <a:p>
            <a:pPr>
              <a:defRPr sz="1600"/>
            </a:pPr>
            <a:r>
              <a:t>Capacity reduction: excess production versus demand.</a:t>
            </a:r>
          </a:p>
          <a:p>
            <a:pPr>
              <a:defRPr sz="1600"/>
            </a:pPr>
            <a:r>
              <a:t>Stock‑market dynamics: booms make share‑based deals easier; falls lower target values.</a:t>
            </a:r>
          </a:p>
          <a:p>
            <a:pPr>
              <a:defRPr sz="1600"/>
            </a:pPr>
            <a:r>
              <a:t>Globalisation: IT reduces geographic barriers, encouraging cross‑border deals.</a:t>
            </a:r>
          </a:p>
          <a:p>
            <a:pPr>
              <a:defRPr sz="1100"/>
            </a:pPr>
            <a:r>
              <a:t>Visual direction: extracted figure</a:t>
            </a:r>
          </a:p>
        </p:txBody>
      </p:sp>
      <p:pic>
        <p:nvPicPr>
          <p:cNvPr id="4" name="Picture 3" descr="page_33_crop_329.png"/>
          <p:cNvPicPr>
            <a:picLocks noChangeAspect="1"/>
          </p:cNvPicPr>
          <p:nvPr/>
        </p:nvPicPr>
        <p:blipFill>
          <a:blip r:embed="rId2"/>
          <a:stretch>
            <a:fillRect/>
          </a:stretch>
        </p:blipFill>
        <p:spPr>
          <a:xfrm>
            <a:off x="5486400" y="1371600"/>
            <a:ext cx="2926080" cy="4389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046720" cy="685800"/>
          </a:xfrm>
          <a:prstGeom prst="rect">
            <a:avLst/>
          </a:prstGeom>
          <a:noFill/>
        </p:spPr>
        <p:txBody>
          <a:bodyPr wrap="none">
            <a:spAutoFit/>
          </a:bodyPr>
          <a:lstStyle/>
          <a:p>
            <a:pPr>
              <a:defRPr sz="2400" b="1"/>
            </a:pPr>
            <a:r>
              <a:t>8. Strategic Motives &amp; Market Conditions</a:t>
            </a:r>
          </a:p>
        </p:txBody>
      </p:sp>
      <p:pic>
        <p:nvPicPr>
          <p:cNvPr id="3" name="Picture 2" descr="strategic-motives-market-conditions-366476d8b71f.png"/>
          <p:cNvPicPr>
            <a:picLocks noChangeAspect="1"/>
          </p:cNvPicPr>
          <p:nvPr/>
        </p:nvPicPr>
        <p:blipFill>
          <a:blip r:embed="rId2"/>
          <a:stretch>
            <a:fillRect/>
          </a:stretch>
        </p:blipFill>
        <p:spPr>
          <a:xfrm>
            <a:off x="640080" y="1371600"/>
            <a:ext cx="5212080" cy="4297680"/>
          </a:xfrm>
          <a:prstGeom prst="rect">
            <a:avLst/>
          </a:prstGeom>
        </p:spPr>
      </p:pic>
      <p:sp>
        <p:nvSpPr>
          <p:cNvPr id="4" name="TextBox 3"/>
          <p:cNvSpPr txBox="1"/>
          <p:nvPr/>
        </p:nvSpPr>
        <p:spPr>
          <a:xfrm>
            <a:off x="5989320" y="1463040"/>
            <a:ext cx="2468880" cy="4206240"/>
          </a:xfrm>
          <a:prstGeom prst="rect">
            <a:avLst/>
          </a:prstGeom>
          <a:noFill/>
        </p:spPr>
        <p:txBody>
          <a:bodyPr wrap="none">
            <a:spAutoFit/>
          </a:bodyPr>
          <a:lstStyle/>
          <a:p/>
          <a:p>
            <a:pPr>
              <a:defRPr sz="1500"/>
            </a:pPr>
            <a:r>
              <a:t>Beyond the drivers, firms often target specific skills and resources.</a:t>
            </a:r>
          </a:p>
          <a:p>
            <a:pPr>
              <a:defRPr sz="1600"/>
            </a:pPr>
            <a:r>
              <a:t>Skill acquisition: small firms with high‑value expertise are attractive.</a:t>
            </a:r>
          </a:p>
          <a:p>
            <a:pPr>
              <a:defRPr sz="1600"/>
            </a:pPr>
            <a:r>
              <a:t>Risk profile: diversification may not lower risk.</a:t>
            </a:r>
          </a:p>
          <a:p>
            <a:pPr>
              <a:defRPr sz="1600"/>
            </a:pPr>
            <a:r>
              <a:t>Industry pressures: mergers common in high‑growth sectors.</a:t>
            </a:r>
          </a:p>
          <a:p>
            <a:pPr>
              <a:defRPr sz="1600"/>
            </a:pPr>
            <a:r>
              <a:t>Capacity issues: merging to align supply with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Practical Resources &amp; Application</a:t>
            </a:r>
          </a:p>
        </p:txBody>
      </p:sp>
      <p:sp>
        <p:nvSpPr>
          <p:cNvPr id="3" name="Content Placeholder 2"/>
          <p:cNvSpPr>
            <a:spLocks noGrp="1"/>
          </p:cNvSpPr>
          <p:nvPr>
            <p:ph idx="1"/>
          </p:nvPr>
        </p:nvSpPr>
        <p:spPr/>
        <p:txBody>
          <a:bodyPr/>
          <a:lstStyle/>
          <a:p/>
          <a:p>
            <a:pPr>
              <a:defRPr sz="1800" b="1"/>
            </a:pPr>
            <a:r>
              <a:t>Key points</a:t>
            </a:r>
          </a:p>
          <a:p>
            <a:pPr>
              <a:defRPr sz="1600"/>
            </a:pPr>
            <a:r>
              <a:t>In addition to this printed course text, you should also have access to the course website in this subject, which will provide you with more learning content, the Profiler software and past examination questions and answers</a:t>
            </a:r>
          </a:p>
          <a:p>
            <a:pPr>
              <a:defRPr sz="1600"/>
            </a:pPr>
            <a:r>
              <a:t>The content of this course text is updated from time to time, and all changes are reflected in the version of the text that appears on the accompanying website at http://coursewebsites.ebsglobal.net/</a:t>
            </a:r>
          </a:p>
          <a:p>
            <a:pPr>
              <a:defRPr sz="1600"/>
            </a:pPr>
            <a:r>
              <a:t>Most updates are minor, and examination questions will avoid any new or significantly altered material for two years following publication of the relevant material on the website</a:t>
            </a:r>
          </a:p>
          <a:p>
            <a:pPr>
              <a:defRPr sz="1600"/>
            </a:pPr>
            <a:r>
              <a:t>Focus block: website resources, profiler software</a:t>
            </a:r>
          </a:p>
          <a:p>
            <a:pPr>
              <a:defRPr sz="1100"/>
            </a:pPr>
            <a:r>
              <a:t>Visual direction: text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Practical Resources &amp; Application Details</a:t>
            </a:r>
          </a:p>
        </p:txBody>
      </p:sp>
      <p:sp>
        <p:nvSpPr>
          <p:cNvPr id="3" name="Content Placeholder 2"/>
          <p:cNvSpPr>
            <a:spLocks noGrp="1"/>
          </p:cNvSpPr>
          <p:nvPr>
            <p:ph idx="1"/>
          </p:nvPr>
        </p:nvSpPr>
        <p:spPr/>
        <p:txBody>
          <a:bodyPr/>
          <a:lstStyle/>
          <a:p/>
          <a:p>
            <a:pPr>
              <a:defRPr sz="1800" b="1"/>
            </a:pPr>
            <a:r>
              <a:t>Why it matters</a:t>
            </a:r>
          </a:p>
          <a:p>
            <a:pPr>
              <a:defRPr sz="1600"/>
            </a:pPr>
            <a:r>
              <a:t>Highlight the website, Profiler software, exam materials, and update procedures.</a:t>
            </a:r>
          </a:p>
          <a:p>
            <a:pPr>
              <a:defRPr sz="1600"/>
            </a:pPr>
            <a:r>
              <a:t>Transition: Finally, we connect theory to practice with the course’s supporting tools.</a:t>
            </a:r>
          </a:p>
          <a:p>
            <a:pPr>
              <a:defRPr sz="1600"/>
            </a:pPr>
            <a:r>
              <a:t>You can check the version of the course text via the version release number to be found on the front page of the text, and compare this to the version number of and Industry DVD digital versatile disc EAC estimate at completion EAIS enterprise application integration system EBIT earnings before interest and tax paid EBITDA earnings before interest, tax, depreciation and allowances EBS Edinburgh Business School ECC European Competition Commission ECTC estimated cost to complete EPS earnings per share ESOP employee stock ownership plan ETTC estimated time to completion EU European Union EV expected value EVA earned value analysis FARM functional area recovery management FCF free cash flow HR human resources IES intelligent electronic systems IMS information management system IR inherent risk IRG implementation review group IRR internal rate of return IT information technology KEI key environmental indicator KPI key performance indicator LPE London Petroleum Exchange LSE London Stock Exchange M&amp;A mergers and acquisitions MACRS modified accelerated cost recovery system ME monetary error MIPM merger implementation project manager MIS merger integr QUERY: learning content updates version release number --- Page 1 --- MQ-A2-engb 1/2016 (1020) Mergers and Acquisitions Professor Alexander Roberts Dr William Wallace Dr Peter Moles --- Page 2 --- This course text is part of the learning content for this Edinburgh Business School course</a:t>
            </a:r>
          </a:p>
          <a:p>
            <a:pPr>
              <a:defRPr sz="1600"/>
            </a:pPr>
            <a:r>
              <a:t>You can check the version of the course text via the version release number to be found on the front page of the text, and compare this to the version number of ept of Implementation 7/10 7.5 Identifying Synergies 7/14 7.6 The Implementation Process 7/21 7.7 Implementation Risk Management 7/39 7.8 The Concept of Disintegration and Reintegration 7/52 7.9 Managerial Levers 7/54 7.10 Transformation Tools 7/57 Review Questions 7/73 Module 8 Project Management as a Tool for Managing the Implementation Process 8/1 8.1 Introduction 8/1 8.2 Some Common Questions about Project Management 8/3 8.3 Some Common Misconceptions about Project Management 8/6 8.4 The Overall Implementation Process 8/8 8.5 Project Management 8/17 8.6 Project Management as a Tool for Managing the Overall Acquisition or Merger Process 8/50 Learning Summary 8/69 Review Questions 8/84 Module 9 Developing the Implementation Plan 9/1 9.1 Introduction 9/1 9.2 Some Common Questions about Implementation Planning 9/3 9.3 Some Common Misconceptions about Implementation Planning 9/6 9.4 The Concept of the Implementation Strategic Project Plan 9/9 9.5 Project Aims and Objectives and Prelimin</a:t>
            </a:r>
          </a:p>
          <a:p>
            <a:pPr>
              <a:defRPr sz="1600"/>
            </a:pPr>
            <a:r>
              <a:t>Coverage focus: exam questions, content updates</a:t>
            </a:r>
          </a:p>
          <a:p>
            <a:pPr>
              <a:defRPr sz="1100"/>
            </a:pPr>
            <a:r>
              <a:t>Visual direction: text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