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Mergers &amp; Acquisitions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22199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EBEE"/>
                </a:solidFill>
              </a:rPr>
              <a:t>Deck de référence à partir du document source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1828800" cy="0"/>
          </a:xfrm>
          <a:prstGeom prst="line">
            <a:avLst/>
          </a:prstGeom>
          <a:noFill/>
          <a:ln w="50800">
            <a:solidFill>
              <a:srgbClr val="008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63240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FD7D7"/>
                </a:solidFill>
              </a:rPr>
              <a:t>Logique stratégique · valorisation · due diligence · implémentation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635240" y="1051560"/>
            <a:ext cx="3520440" cy="2560320"/>
          </a:xfrm>
          <a:prstGeom prst="roundRect">
            <a:avLst>
              <a:gd name="adj" fmla="val 1786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pic>
        <p:nvPicPr>
          <p:cNvPr id="9" name="Image 0" descr="/mnt/data/mna_assets_hi/strategic_focus_wh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147577"/>
            <a:ext cx="3429000" cy="23682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0" y="36118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Strategic Focus Wheel™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61722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7D7"/>
                </a:solidFill>
              </a:rPr>
              <a:t>Roberts, Wallace &amp; Moles | Edinburgh Business School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les M&amp;A sont un sujet stratégique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 document présente les fusions-acquisitions comme un levier majeur de changement organisationnel.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Contexte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600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</a:rPr>
              <a:t>Un outil de transformation, pas seulement une transaction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585216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M&amp;A peuvent transformer des secteurs entiers : finance, pétrole, pharmacie, télécoms, IT, chimie.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globalisation, la dérégulation et la technologie réduisent les anciennes barrières au commerce.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texte insiste sur un risque clé : beaucoup de deals échouent faute d’intégration, de focus ou de pilotage.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0" y="1554480"/>
            <a:ext cx="2057400" cy="1325880"/>
          </a:xfrm>
          <a:prstGeom prst="rect">
            <a:avLst/>
          </a:prstGeom>
          <a:solidFill>
            <a:srgbClr val="F2F8F8"/>
          </a:solidFill>
          <a:ln w="12700">
            <a:solidFill>
              <a:srgbClr val="F2F8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16916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C8C"/>
                </a:solidFill>
              </a:rPr>
              <a:t>$183bn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14032" y="2212848"/>
            <a:ext cx="17282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Vodafone - Mannesmann, exemple de deal très grande échelle cité dans le texte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81160" y="1554480"/>
            <a:ext cx="2057400" cy="1325880"/>
          </a:xfrm>
          <a:prstGeom prst="rect">
            <a:avLst/>
          </a:prstGeom>
          <a:solidFill>
            <a:srgbClr val="F2F8F8"/>
          </a:solidFill>
          <a:ln w="12700">
            <a:solidFill>
              <a:srgbClr val="F2F8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69164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E6E"/>
                </a:solidFill>
              </a:rPr>
              <a:t>$181bn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445752" y="2212848"/>
            <a:ext cx="17282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AOL - Time Warner, autre opération majeure citée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9440" y="3246120"/>
            <a:ext cx="2057400" cy="1325880"/>
          </a:xfrm>
          <a:prstGeom prst="rect">
            <a:avLst/>
          </a:prstGeom>
          <a:solidFill>
            <a:srgbClr val="F2F8F8"/>
          </a:solidFill>
          <a:ln w="12700">
            <a:solidFill>
              <a:srgbClr val="F2F8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33832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5 vagues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114032" y="3904488"/>
            <a:ext cx="17282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Le document structure l’histoire des M&amp;A en cinq grandes vagues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81160" y="3246120"/>
            <a:ext cx="2057400" cy="1325880"/>
          </a:xfrm>
          <a:prstGeom prst="rect">
            <a:avLst/>
          </a:prstGeom>
          <a:solidFill>
            <a:srgbClr val="F2F8F8"/>
          </a:solidFill>
          <a:ln w="12700">
            <a:solidFill>
              <a:srgbClr val="F2F8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33832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8B45"/>
                </a:solidFill>
              </a:rPr>
              <a:t>3 angles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445752" y="3904488"/>
            <a:ext cx="17282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Stratégie, finance et implémentation doivent être pensés ensemble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95160" y="5074920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Message central : une M&amp;A réussie dépend autant de la capacité à faire fonctionner le changement que de la signature du deal.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Fusion ou acquisition : la différence clé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La distinction porte surtout sur la manière dont la combinaison est réalisée.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Concepts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60020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E6F4F4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709928"/>
            <a:ext cx="3182112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Fusion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Négociation entre deux entreprises avant la combinaison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09560" y="160020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E6F4F4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55864" y="1709928"/>
            <a:ext cx="3182112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Acquisition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Une entreprise achète la cible et en devient propriétaire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34840" y="2103120"/>
            <a:ext cx="3291840" cy="0"/>
          </a:xfrm>
          <a:prstGeom prst="line">
            <a:avLst/>
          </a:prstGeom>
          <a:noFill/>
          <a:ln w="31750">
            <a:solidFill>
              <a:srgbClr val="008C8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434840" y="16916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Combinaison de deux ou plusieurs entreprises en un nouvel ensemble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26280" y="23134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Dans les deux cas, les enjeux de logique stratégique, de valorisation, de due diligence et d’implémentation restent proches.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51560" y="3154680"/>
            <a:ext cx="288036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154680"/>
            <a:ext cx="73152" cy="713232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6152" y="32461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Friendly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16152" y="3502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La cible accepte l’opération et peut y voir une opportunité de développement.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3154680"/>
            <a:ext cx="288036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3154680"/>
            <a:ext cx="73152" cy="713232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32461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Hostile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3502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La cible s’oppose à l’acquisition ; le rachat peut passer par les actionnaires.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83880" y="3154680"/>
            <a:ext cx="288036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154680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48472" y="32461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Shareholders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8472" y="3502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La décision finale dépend souvent de la vente des actions de la cible.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48920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E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40280" y="4846320"/>
            <a:ext cx="8641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A43"/>
                </a:solidFill>
              </a:rPr>
              <a:t>Le vocabulaire change, mais l’analyse doit rester intégrée : pourquoi le deal, à quel prix, avec quels risques, et comment l’intégrer 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discipline intégrée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 document refuse une lecture uniquement financière des M&amp;A.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Approche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371600"/>
            <a:ext cx="4709160" cy="3337560"/>
          </a:xfrm>
          <a:prstGeom prst="roundRect">
            <a:avLst>
              <a:gd name="adj" fmla="val 1370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pic>
        <p:nvPicPr>
          <p:cNvPr id="12" name="Image 0" descr="/mnt/data/mna_assets_hi/strategic_focus_wh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45734"/>
            <a:ext cx="4617720" cy="318929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470916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Le Strategic Focus Wheel™ relie stratégie, changement et risque.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80644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Le manager doit penser simultanément comme :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897880" y="2084832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2084832"/>
            <a:ext cx="73152" cy="713232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62472" y="217627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Stratège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62472" y="243230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Évaluer la logique du rapprochement et le maintien du focus stratégique.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897880" y="2971800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97880" y="2971800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62472" y="306324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Financier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062472" y="33192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Valoriser la cible, les synergies, la croissance et les risques économiques.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897880" y="3858768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97880" y="3858768"/>
            <a:ext cx="73152" cy="713232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62472" y="395020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Chef de projet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062472" y="42062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Transformer le plan en intégration pilotée, mesurable et contrôlée.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897880" y="4983480"/>
            <a:ext cx="49834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43B53"/>
                </a:solidFill>
              </a:rPr>
              <a:t>Hypothèse pédagogique du texte : une partie des échecs vient d’un pilotage trop fonctionnel, sans vision multidisciplinaire.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fil conducteur : du rationnel à l’intégration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 PDF organise les M&amp;A comme un processus, pas comme une liste de notions.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Processus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1280160"/>
            <a:ext cx="4617720" cy="4709160"/>
          </a:xfrm>
          <a:prstGeom prst="roundRect">
            <a:avLst>
              <a:gd name="adj" fmla="val 990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pic>
        <p:nvPicPr>
          <p:cNvPr id="12" name="Image 0" descr="/mnt/data/mna_assets_hi/course_se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7820" y="1325880"/>
            <a:ext cx="4003680" cy="46177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46520" y="5989320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Structure du cours EBS.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77240" y="1234440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1234440"/>
            <a:ext cx="73152" cy="713232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" y="132588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1. Introduction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41832" y="158191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Termes, philosophie et bases du processus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91840" y="1947672"/>
            <a:ext cx="0" cy="173736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77240" y="2039112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2039112"/>
            <a:ext cx="73152" cy="71323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41832" y="213055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2. Rationnel stratégique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41832" y="238658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Pourquoi le deal doit exister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91840" y="2752344"/>
            <a:ext cx="0" cy="173736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77240" y="2843784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7240" y="2843784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1832" y="2935224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3. Valorisation &amp; due diligence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41832" y="319125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Prix, potentiel et information critique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91840" y="3557016"/>
            <a:ext cx="0" cy="173736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77240" y="3648456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7240" y="3648456"/>
            <a:ext cx="73152" cy="713232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1832" y="373989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4. Implémentation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41832" y="39959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Plan, ressources, risques et pilotage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291840" y="4361688"/>
            <a:ext cx="0" cy="173736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77240" y="4453128"/>
            <a:ext cx="502920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7240" y="4453128"/>
            <a:ext cx="73152" cy="7132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1832" y="454456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5. Synthèse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41832" y="48006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Retours, questions, apprentissage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22960" y="55321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La logique du deck suit cette même trajectoire : cadrage -&gt; motifs -&gt; types de rapprochement -&gt; cycle de vie -&gt; succès/échec.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lancer une M&amp;A 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 document distingue des rationales de haut niveau et des drivers opérationnels.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Rationnels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325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Rationales : les raisons de fond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1874520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874520"/>
            <a:ext cx="73152" cy="713232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1965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Stratégique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221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Atteindre des objectifs, entrer sur un marché, contrôler une capacité.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26280" y="1874520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6280" y="1874520"/>
            <a:ext cx="73152" cy="71323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965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Défensif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90872" y="2221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Répondre à une vague de consolidation chez les concurrents.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0" y="1874520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874520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1965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Spéculatif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94192" y="2221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Acheter, développer ou découper une cible pour créer une plus-value.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3794760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3794760"/>
            <a:ext cx="73152" cy="713232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352" y="38862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Correction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16352" y="4142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Rattraper un mauvais alignement stratégique ou managérial.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55080" y="3794760"/>
            <a:ext cx="333756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794760"/>
            <a:ext cx="73152" cy="7132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9672" y="38862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Financier / politique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19672" y="4142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Faire face à une nécessité financière ou à une orientation publique.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28800" y="55961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Point de vigilance : le texte rappelle qu’il existe souvent des alternatives à une M&amp;A ; le deal doit donc être justifié contre d’autres chemins possibles.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qui pousse concrètement les deals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Les drivers sont des facteurs opérationnels ou de marché qui rendent l’opération attractive.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Drivers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280160"/>
            <a:ext cx="4023360" cy="4023360"/>
          </a:xfrm>
          <a:prstGeom prst="arc">
            <a:avLst/>
          </a:prstGeom>
          <a:noFill/>
          <a:ln w="203200">
            <a:solidFill>
              <a:srgbClr val="E6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2600000">
            <a:off x="914400" y="1600200"/>
            <a:ext cx="3383280" cy="3383280"/>
          </a:xfrm>
          <a:prstGeom prst="arc">
            <a:avLst/>
          </a:prstGeom>
          <a:noFill/>
          <a:ln w="114300">
            <a:solidFill>
              <a:srgbClr val="00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</a:rPr>
              <a:t>Drivers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588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Marché, capacité, ressources, technologie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1234440"/>
            <a:ext cx="2999232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234440"/>
            <a:ext cx="73152" cy="713232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1325880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Ressources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56632" y="158191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Compétences rares ou actifs spécifiques difficiles à développer en interne.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75320" y="1234440"/>
            <a:ext cx="2999232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234440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9912" y="1325880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Marchés financiers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39912" y="158191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Prix des actions, liquidité et coût de financement influencent les acquisitions.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92040" y="2478024"/>
            <a:ext cx="2999232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478024"/>
            <a:ext cx="73152" cy="713232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569464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Globalisation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56632" y="2825496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Frontières moins bloquantes, coordination facilitée par l’IT.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75320" y="2478024"/>
            <a:ext cx="2999232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5320" y="2478024"/>
            <a:ext cx="73152" cy="71323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39912" y="2569464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Consolidation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39912" y="2825496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Rapprochement d’acteurs compatibles dans un même espace économique.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92040" y="3721608"/>
            <a:ext cx="2999232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3721608"/>
            <a:ext cx="73152" cy="7132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3813048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Capacité &amp; coûts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56632" y="406908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Réduire surcapacité, sécuriser l’approvisionnement, rechercher des économies d’échelle.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75320" y="3721608"/>
            <a:ext cx="2999232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3721608"/>
            <a:ext cx="73152" cy="713232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9912" y="3813048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Croissance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39912" y="406908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Accéder rapidement à un marché, une base clients ou un secteur en expansion.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37760" y="525780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</a:rPr>
              <a:t>Les drivers n’ont de valeur que s’ils soutiennent un rationnel clair.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Trois formes de rapprochement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Les vagues historiques ont fait émerger trois architectures dominantes.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Types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4572000" cy="2880360"/>
          </a:xfrm>
          <a:prstGeom prst="roundRect">
            <a:avLst>
              <a:gd name="adj" fmla="val 1587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pic>
        <p:nvPicPr>
          <p:cNvPr id="12" name="Image 0" descr="/mnt/data/mna_assets_hi/vertical_inte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431589"/>
            <a:ext cx="4480560" cy="276038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46520" y="42519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Exemple de logique verticale.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77240" y="155448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1554480"/>
            <a:ext cx="73152" cy="713232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" y="164592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Intégration verticale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41832" y="1901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Vers les fournisseurs ou vers les clients : réduire les risques de supply chain, protéger la qualité et les actifs propriétaires.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265176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2651760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" y="27432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Intégration horizontale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41832" y="2999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Rapprochement entre acteurs du même secteur ou de la même activité : taille, capacité, consolidation.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77240" y="374904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7240" y="3749040"/>
            <a:ext cx="73152" cy="7132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1832" y="38404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Conglomérat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41832" y="4096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Acquisition d’activités non liées : diversification du portefeuille, mais risque de perte de focus.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14400" y="5074920"/>
            <a:ext cx="996696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0120" y="53492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Lecture stratégique : plus l’opération éloigne l’entreprise de son cœur de métier, plus le risque de pilotage et de perte de focus augmente.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cycle de vie d’une M&amp;A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 texte présente un enchaînement clair, avec bascule après engagement et signature.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Cycle de vie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371600"/>
            <a:ext cx="5715000" cy="3931920"/>
          </a:xfrm>
          <a:prstGeom prst="roundRect">
            <a:avLst>
              <a:gd name="adj" fmla="val 1163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pic>
        <p:nvPicPr>
          <p:cNvPr id="12" name="Image 0" descr="/mnt/data/mna_assets_hi/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704" y="1417320"/>
            <a:ext cx="4313751" cy="3840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5800" y="5303520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Cycle de vie simplifié selon le document.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72084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Ce que la figure met en évidence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720840" y="1874520"/>
            <a:ext cx="43891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deal commence par un rationnel, puis une faisabilité financière et logistique.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négociation et le contrat ne sont pas la fin du processus.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L’implémentation commence dès que le contrat existe, mais se prépare avant.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retour d’expérience post-implémentation est une phase à part entière.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6812280" y="4572000"/>
            <a:ext cx="4069080" cy="685800"/>
          </a:xfrm>
          <a:prstGeom prst="roundRect">
            <a:avLst>
              <a:gd name="adj" fmla="val 10667"/>
            </a:avLst>
          </a:prstGeom>
          <a:solidFill>
            <a:srgbClr val="E6F4F4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58584" y="4681728"/>
            <a:ext cx="3776472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La signature est un point de bascule, pas un point d’arrivée.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Gouvernance : qui porte le deal 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 document insiste sur l’implication précoce de l’équipe d’intégration.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Pilotage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4892040" cy="3246120"/>
          </a:xfrm>
          <a:prstGeom prst="roundRect">
            <a:avLst>
              <a:gd name="adj" fmla="val 1408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pic>
        <p:nvPicPr>
          <p:cNvPr id="12" name="Image 0" descr="/mnt/data/mna_assets_hi/people_involv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5199" y="1417320"/>
            <a:ext cx="4634602" cy="31546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72200" y="461772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Répartition typique des rôles avant et après signature.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7724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Le risque classique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22960" y="1965960"/>
            <a:ext cx="484632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stratèges dominent l’amont et peuvent sous-estimer les coûts réels d’intégration.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consultants peuvent structurer le deal mais leur rôle décroît après signature.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L’équipe d’implémentation porte l’exécution, donc elle doit contribuer tôt aux hypothèses.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22960" y="4434840"/>
            <a:ext cx="46634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9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E6E"/>
                </a:solidFill>
              </a:rPr>
              <a:t>Arbitrage mentionné dans le texte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50292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</a:rPr>
              <a:t>Impliquer tôt l’intégration réduit les inconnues, mais peut générer des coûts de préparation si le deal échoue.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M&amp;A évoluent par vagues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 document relie les vagues de fusions à des forces externes : technologie, économie, réglementation.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Histoire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51560" y="2377440"/>
            <a:ext cx="9875520" cy="0"/>
          </a:xfrm>
          <a:prstGeom prst="line">
            <a:avLst/>
          </a:prstGeom>
          <a:noFill/>
          <a:ln w="27940">
            <a:solidFill>
              <a:srgbClr val="008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03120"/>
            <a:ext cx="530352" cy="530352"/>
          </a:xfrm>
          <a:prstGeom prst="ellipse">
            <a:avLst/>
          </a:prstGeom>
          <a:solidFill>
            <a:srgbClr val="00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6459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1895-1905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" y="2788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Railroad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172968"/>
            <a:ext cx="1600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</a:rPr>
              <a:t>Marché national intégré par le rail ; intégrations verticales et horizontales.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971800" y="2103120"/>
            <a:ext cx="530352" cy="5303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5768" y="16459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1918-1930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87168" y="2788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Automobile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172968"/>
            <a:ext cx="1600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</a:rPr>
              <a:t>Accès élargi aux marchés locaux/régionaux ; logistique et vente stimulées.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120640" y="210312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6459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1955-1970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36008" y="2788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Conglomerate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3172968"/>
            <a:ext cx="1600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</a:rPr>
              <a:t>Législation limitant l’intégration ; croissance via activités non liées.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269480" y="2103120"/>
            <a:ext cx="530352" cy="530352"/>
          </a:xfrm>
          <a:prstGeom prst="ellipse">
            <a:avLst/>
          </a:prstGeom>
          <a:solidFill>
            <a:srgbClr val="238B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13448" y="16459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1980-1990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84848" y="2788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Mega-merger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172968"/>
            <a:ext cx="1600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</a:rPr>
              <a:t>Économie buoyante, financement disponible, dérégulation, consolidation.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418320" y="2103120"/>
            <a:ext cx="530352" cy="530352"/>
          </a:xfrm>
          <a:prstGeom prst="ellipse">
            <a:avLst/>
          </a:prstGeom>
          <a:solidFill>
            <a:srgbClr val="D95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62288" y="16459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1994+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33688" y="2788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Globalisation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915400" y="3172968"/>
            <a:ext cx="1600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</a:rPr>
              <a:t>IT, Internet, faibles barrières, pression sur coûts et compétitivité.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1097280" y="5074920"/>
            <a:ext cx="9829800" cy="731520"/>
          </a:xfrm>
          <a:prstGeom prst="rect">
            <a:avLst/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25880" y="5285232"/>
            <a:ext cx="937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Lecture du document : la vague de globalisation ressemble à la première vague, car une nouvelle technologie ouvre brutalement des marchés plus vastes.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Mesurer le succès : une question de point de vue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 texte distingue court terme, long terme et perspective des parties prenantes.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Succès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60020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E6F4F4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1709928"/>
            <a:ext cx="295351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Court terme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Prix de l’action de la cible, prime d’acquisition, réaction de marché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160020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E6F4F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709928"/>
            <a:ext cx="295351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Long terme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Performance soutenue, intégration, création de valeur, méthode de paiement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160020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E6F4F4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1709928"/>
            <a:ext cx="2953512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Perspective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Actionnaires de la cible, acquéreur, organisation intégrée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Deux variables long terme mises en avant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3794760"/>
            <a:ext cx="466344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794760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388620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Méthode de paiement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41422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Cash, actions ou combinaison : le contexte économique influence le résultat perçu.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4645152"/>
            <a:ext cx="4663440" cy="713232"/>
          </a:xfrm>
          <a:prstGeom prst="roundRect">
            <a:avLst>
              <a:gd name="adj" fmla="val 6410"/>
            </a:avLst>
          </a:prstGeom>
          <a:solidFill>
            <a:srgbClr val="F2F8F8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645152"/>
            <a:ext cx="73152" cy="713232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473659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Implémentation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49926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Plans incomplets, changements en cours de route et intégration sous-estimée dégradent la valeur.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Le succès ne se lit pas dans un seul indicateur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3730752"/>
            <a:ext cx="44805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cible peut sembler gagnante à court terme grâce à une prime.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L’acquéreur peut surpayer si les rumeurs ou enchères font monter le prix.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vraie création de valeur dépend de la réalisation des synergies et de l’intégration.</a:t>
            </a:r>
            <a:endParaRPr lang="en-US" sz="13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scénarios récurrents d’échec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Les risques se concentrent autour du prix, du fit, de l’exécution et des chocs externes.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Risques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L’échec est rarement dû à un seul facteur : il combine souvent hypothèses trop optimistes et implémentation insuffisante.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14400" y="214884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2F8F8"/>
          </a:solidFill>
          <a:ln w="15240">
            <a:solidFill>
              <a:srgbClr val="D953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148840"/>
            <a:ext cx="91440" cy="932688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22768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34F"/>
                </a:solidFill>
              </a:rPr>
              <a:t>Prix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15568" y="259689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Surpayer la cible ou surestimer sa valeur réelle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214884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2F8F8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148840"/>
            <a:ext cx="91440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2768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Synergies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73168" y="259689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Identifier des gains qui ne se matérialisent pas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214884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2F8F8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148840"/>
            <a:ext cx="91440" cy="9326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0768" y="227685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280"/>
                </a:solidFill>
              </a:rPr>
              <a:t>Taille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30768" y="259689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Cible trop grande ou difficile à absorber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" y="356616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2F8F8"/>
          </a:solidFill>
          <a:ln w="15240">
            <a:solidFill>
              <a:srgbClr val="0B6E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3566160"/>
            <a:ext cx="91440" cy="932688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3694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E6E"/>
                </a:solidFill>
              </a:rPr>
              <a:t>Fit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15568" y="40142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Cultures ou technologies incompatibles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356616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2F8F8"/>
          </a:solidFill>
          <a:ln w="15240">
            <a:solidFill>
              <a:srgbClr val="238B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3566160"/>
            <a:ext cx="91440" cy="932688"/>
          </a:xfrm>
          <a:prstGeom prst="rect">
            <a:avLst/>
          </a:prstGeom>
          <a:solidFill>
            <a:srgbClr val="238B45"/>
          </a:solidFill>
          <a:ln w="12700">
            <a:solidFill>
              <a:srgbClr val="238B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694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8B45"/>
                </a:solidFill>
              </a:rPr>
              <a:t>Exécution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773168" y="40142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Planification, contrôle ou driver d’intégration insuffisants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29600" y="3566160"/>
            <a:ext cx="3063240" cy="932688"/>
          </a:xfrm>
          <a:prstGeom prst="roundRect">
            <a:avLst>
              <a:gd name="adj" fmla="val 5882"/>
            </a:avLst>
          </a:prstGeom>
          <a:solidFill>
            <a:srgbClr val="F2F8F8"/>
          </a:solidFill>
          <a:ln w="15240">
            <a:solidFill>
              <a:srgbClr val="243B5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3566160"/>
            <a:ext cx="91440" cy="932688"/>
          </a:xfrm>
          <a:prstGeom prst="rect">
            <a:avLst/>
          </a:prstGeom>
          <a:solidFill>
            <a:srgbClr val="243B53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0768" y="36941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3B53"/>
                </a:solidFill>
              </a:rPr>
              <a:t>Contexte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430768" y="40142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Changement externe qui invalide le rationnel du deal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97280" y="5303520"/>
            <a:ext cx="9921240" cy="59436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5504688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A43"/>
                </a:solidFill>
              </a:rPr>
              <a:t>Implication managériale : le deal doit être challengé avant signature, puis piloté comme un changement réel après signature.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3737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 Edinburgh Business School, Mergers and Acquisitions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4712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411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: la M&amp;A comme système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042416"/>
            <a:ext cx="1097280" cy="0"/>
          </a:xfrm>
          <a:prstGeom prst="line">
            <a:avLst/>
          </a:prstGeom>
          <a:noFill/>
          <a:ln w="38100">
            <a:solidFill>
              <a:srgbClr val="00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875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Le deal ne crée de la valeur que s’il est cohérent, correctement valorisé et réellement intégré.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464040" y="502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B6E6E"/>
                </a:solidFill>
              </a:rPr>
              <a:t>Synthèse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</a:rPr>
              <a:t>La thèse opérationnelle du document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2960" y="2057400"/>
            <a:ext cx="5486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B53"/>
                </a:solidFill>
              </a:rPr>
              <a:t>Une fusion-acquisition doit être pilotée comme un processus de transformation complet : stratégie, prix, information, risques, ressources et intégration doivent rester alignés.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3337560"/>
            <a:ext cx="329184" cy="329184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40156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25880" y="3355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A43"/>
                </a:solidFill>
              </a:rPr>
              <a:t>Clarifier le rationnel stratégique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3904488"/>
            <a:ext cx="329184" cy="329184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396849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25880" y="39227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A43"/>
                </a:solidFill>
              </a:rPr>
              <a:t>Tester la valeur et les hypothèses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680" y="4471416"/>
            <a:ext cx="329184" cy="329184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53542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25880" y="44897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A43"/>
                </a:solidFill>
              </a:rPr>
              <a:t>Préparer l’intégration avant la signature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68680" y="5038344"/>
            <a:ext cx="329184" cy="329184"/>
          </a:xfrm>
          <a:prstGeom prst="ellipse">
            <a:avLst/>
          </a:prstGeom>
          <a:solidFill>
            <a:srgbClr val="008C8C"/>
          </a:solidFill>
          <a:ln w="12700">
            <a:solidFill>
              <a:srgbClr val="008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510235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25880" y="5056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02A43"/>
                </a:solidFill>
              </a:rPr>
              <a:t>Piloter les risques et les synergies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75120" y="1463040"/>
            <a:ext cx="4526280" cy="3703320"/>
          </a:xfrm>
          <a:prstGeom prst="roundRect">
            <a:avLst>
              <a:gd name="adj" fmla="val 1235"/>
            </a:avLst>
          </a:prstGeom>
          <a:solidFill>
            <a:srgbClr val="F8FAFC"/>
          </a:solidFill>
          <a:ln w="8890">
            <a:solidFill>
              <a:srgbClr val="CBD5E1"/>
            </a:solidFill>
            <a:prstDash val="solid"/>
          </a:ln>
        </p:spPr>
      </p:sp>
      <p:pic>
        <p:nvPicPr>
          <p:cNvPr id="26" name="Image 0" descr="/mnt/data/mna_assets_hi/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9770" y="1508760"/>
            <a:ext cx="4056980" cy="3611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720840" y="5166360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Rappel : la valeur se joue après le deal autant qu’avant.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720840" y="55321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Référence : Mergers and Acquisitions, Roberts, Wallace &amp; Moles, Edinburgh Business School.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Mergers and Acquisitions - Reference Deck</dc:title>
  <dc:subject>Reference deck based on EBS Mergers and Acquisitions source PDF</dc:subject>
  <dc:creator>OpenAI</dc:creator>
  <cp:lastModifiedBy>OpenAI</cp:lastModifiedBy>
  <cp:revision>1</cp:revision>
  <dcterms:created xsi:type="dcterms:W3CDTF">2026-05-29T19:58:47Z</dcterms:created>
  <dcterms:modified xsi:type="dcterms:W3CDTF">2026-05-29T19:58:47Z</dcterms:modified>
</cp:coreProperties>
</file>